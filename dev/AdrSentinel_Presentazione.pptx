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8"/>
  </p:notesMasterIdLst>
  <p:sldIdLst>
    <p:sldId id="256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it-IT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 /><Relationship Id="rId10" Type="http://schemas.openxmlformats.org/officeDocument/2006/relationships/tableStyles" Target="tableStyles.xml" /><Relationship Id="rId1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470067" name="Segnaposto intestazion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72656880" name="Segnaposto data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it-IT"/>
              <a:t>10/30/2013</a:t>
            </a:fld>
            <a:endParaRPr lang="it-IT"/>
          </a:p>
        </p:txBody>
      </p:sp>
      <p:sp>
        <p:nvSpPr>
          <p:cNvPr id="380478222" name="Segnaposto immagine diapositiva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it-IT"/>
          </a:p>
        </p:txBody>
      </p:sp>
      <p:sp>
        <p:nvSpPr>
          <p:cNvPr id="1972124714" name="Segnaposto Note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2132849224" name="Segnaposto piè di pagina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85284963" name="Segnaposto numero diapositiva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it-IT"/>
              <a:t>‹#›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0702967" name="Segnaposto immagine diapositiva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7858906" name="Segnaposto Note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it-IT">
              <a:latin typeface="Arial"/>
              <a:cs typeface="Arial"/>
            </a:endParaRPr>
          </a:p>
        </p:txBody>
      </p:sp>
      <p:sp>
        <p:nvSpPr>
          <p:cNvPr id="1390743844" name="Segnaposto numero diapositiva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it-IT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54690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37562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048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28FB18-B7FE-CCEB-7217-A667AA79C88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81380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58940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80998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0F256B-D55B-9B44-D39B-DF1E722C6E8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8492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11848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78535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C707A0-71F7-140C-14C0-0CFDA013CD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a tito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5372514" name="Titolo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333070352" name="Sottotitolo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it-IT"/>
              <a:t>Fare clic per modificare lo stile del sottotitolo dello schema</a:t>
            </a:r>
            <a:endParaRPr lang="it-IT"/>
          </a:p>
        </p:txBody>
      </p:sp>
      <p:sp>
        <p:nvSpPr>
          <p:cNvPr id="352951097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1082827090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463016264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olo e contenu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0772363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1071426491" name="Segnaposto contenut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364942988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1951220881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351292776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Intestazione sezion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5514683" name="Titolo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1448099810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</p:txBody>
      </p:sp>
      <p:sp>
        <p:nvSpPr>
          <p:cNvPr id="450266650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1651152665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91756424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ue contenuti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779482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1348215804" name="Segnaposto contenuto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25011533" name="Segnaposto contenuto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919497324" name="Segnaposto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539127684" name="Segnaposto piè di pa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260688505" name="Segnaposto numero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nfron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3184408" name="Titolo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1230843849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</p:txBody>
      </p:sp>
      <p:sp>
        <p:nvSpPr>
          <p:cNvPr id="1190272886" name="Segnaposto contenuto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1103138226" name="Segnaposto testo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</p:txBody>
      </p:sp>
      <p:sp>
        <p:nvSpPr>
          <p:cNvPr id="1135278933" name="Segnaposto contenuto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673496406" name="Segnaposto data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1976007045" name="Segnaposto piè di pagina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233177592" name="Segnaposto numero diapositiva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Solo tito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7251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1969363412" name="Segnaposto data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576503573" name="Segnaposto piè di pagina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292826305" name="Segnaposto numero diapositiva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Vuot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860610" name="Segnaposto data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1203320819" name="Segnaposto piè di pagina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85373388" name="Segnaposto numero diapositiva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uto con didascali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5153520" name="Tito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1433384796" name="Segnaposto contenuto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1276838715" name="Segnaposto tes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</p:txBody>
      </p:sp>
      <p:sp>
        <p:nvSpPr>
          <p:cNvPr id="1887311294" name="Segnaposto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1914187649" name="Segnaposto piè di pa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4985527" name="Segnaposto numero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magine con didascali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1201164" name="Tito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1324146490" name="Segnaposto immagine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it-IT"/>
              <a:t>Fare clic sull'icona per aggiungere un'immagine</a:t>
            </a:r>
            <a:endParaRPr lang="it-IT"/>
          </a:p>
        </p:txBody>
      </p:sp>
      <p:sp>
        <p:nvSpPr>
          <p:cNvPr id="2017286183" name="Segnaposto tes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</p:txBody>
      </p:sp>
      <p:sp>
        <p:nvSpPr>
          <p:cNvPr id="356963846" name="Segnaposto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525697300" name="Segnaposto piè di pa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134218365" name="Segnaposto numero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olo e testo vertica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010937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1724089055" name="Segnaposto testo verticale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742446260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413520121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961580523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itolo e testo vertica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822628" name="Titolo vertica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1056811584" name="Segnaposto testo verticale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836578557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413047646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877163981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955322" name="Segnaposto tito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1921403339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1888327730" name="Segnaposto data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139012001" name="Segnaposto piè di pagina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797153390" name="Segnaposto numero diapositiva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261722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192525283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rot="0" flipH="0" flipV="0">
            <a:off x="3395999" y="1872000"/>
            <a:ext cx="5400000" cy="311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687073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0" y="-25513"/>
            <a:ext cx="12191999" cy="6909026"/>
          </a:xfrm>
          <a:prstGeom prst="rect">
            <a:avLst/>
          </a:prstGeom>
        </p:spPr>
      </p:pic>
      <p:pic>
        <p:nvPicPr>
          <p:cNvPr id="149804738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388553" y="1751919"/>
            <a:ext cx="5215285" cy="4286250"/>
          </a:xfrm>
          <a:prstGeom prst="roundRect">
            <a:avLst>
              <a:gd name="adj" fmla="val 3817"/>
            </a:avLst>
          </a:prstGeom>
        </p:spPr>
      </p:pic>
      <p:sp>
        <p:nvSpPr>
          <p:cNvPr id="77022406" name=""/>
          <p:cNvSpPr txBox="1"/>
          <p:nvPr/>
        </p:nvSpPr>
        <p:spPr bwMode="auto">
          <a:xfrm rot="0" flipH="0" flipV="0">
            <a:off x="734398" y="526046"/>
            <a:ext cx="5927721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spAutoFit/>
          </a:bodyPr>
          <a:p>
            <a:pPr algn="l">
              <a:defRPr/>
            </a:pPr>
            <a:r>
              <a:rPr sz="3200" b="1">
                <a:solidFill>
                  <a:srgbClr val="020617"/>
                </a:solidFill>
                <a:latin typeface="Comfortaa SemiBold"/>
                <a:ea typeface="Comfortaa SemiBold"/>
                <a:cs typeface="Comfortaa SemiBold"/>
              </a:rPr>
              <a:t>Sicurezza oltre il Rischio</a:t>
            </a:r>
            <a:endParaRPr sz="3400" b="1">
              <a:solidFill>
                <a:srgbClr val="FF8626"/>
              </a:solidFill>
            </a:endParaRPr>
          </a:p>
        </p:txBody>
      </p:sp>
      <p:sp>
        <p:nvSpPr>
          <p:cNvPr id="754250515" name=""/>
          <p:cNvSpPr/>
          <p:nvPr/>
        </p:nvSpPr>
        <p:spPr bwMode="auto">
          <a:xfrm rot="0" flipH="0" flipV="0">
            <a:off x="644399" y="525867"/>
            <a:ext cx="90000" cy="579600"/>
          </a:xfrm>
          <a:prstGeom prst="rect">
            <a:avLst/>
          </a:prstGeom>
          <a:solidFill>
            <a:srgbClr val="FF8626"/>
          </a:solidFill>
          <a:ln w="12700" cap="flat" cmpd="sng" algn="ctr">
            <a:solidFill>
              <a:srgbClr val="FF8626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466563067" name=""/>
          <p:cNvSpPr txBox="1"/>
          <p:nvPr/>
        </p:nvSpPr>
        <p:spPr bwMode="auto">
          <a:xfrm rot="0" flipH="0" flipV="0">
            <a:off x="543529" y="1616558"/>
            <a:ext cx="5375298" cy="44809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spAutoFit/>
          </a:bodyPr>
          <a:p>
            <a:pPr algn="l">
              <a:defRPr/>
            </a:pPr>
            <a:r>
              <a:rPr b="1">
                <a:latin typeface="Comfortaa Light"/>
                <a:ea typeface="Comfortaa Light"/>
                <a:cs typeface="Comfortaa Light"/>
              </a:rPr>
              <a:t>I</a:t>
            </a:r>
            <a:r>
              <a:rPr b="1">
                <a:solidFill>
                  <a:srgbClr val="020617"/>
                </a:solidFill>
                <a:latin typeface="Comfortaa Light"/>
                <a:ea typeface="Comfortaa Light"/>
                <a:cs typeface="Comfortaa Light"/>
              </a:rPr>
              <a:t>l “Campo Minato” ADR</a:t>
            </a:r>
            <a:endParaRPr b="1">
              <a:solidFill>
                <a:srgbClr val="020617"/>
              </a:solidFill>
              <a:latin typeface="Comfortaa Light"/>
              <a:ea typeface="Comfortaa Light"/>
              <a:cs typeface="Comfortaa Light"/>
            </a:endParaRPr>
          </a:p>
          <a:p>
            <a:pPr algn="l">
              <a:defRPr/>
            </a:pPr>
            <a:r>
              <a:rPr>
                <a:solidFill>
                  <a:srgbClr val="020617"/>
                </a:solidFill>
                <a:latin typeface="Comfortaa Light"/>
                <a:ea typeface="Comfortaa Light"/>
                <a:cs typeface="Comfortaa Light"/>
              </a:rPr>
              <a:t>Ogni giorno, le aziende di logistica rischiano sanzioni penali e disastri ambientali per errori di carico o percorsi errati.</a:t>
            </a:r>
            <a:endParaRPr>
              <a:solidFill>
                <a:srgbClr val="020617"/>
              </a:solidFill>
              <a:latin typeface="Comfortaa Light"/>
              <a:ea typeface="Comfortaa Light"/>
              <a:cs typeface="Comfortaa Light"/>
            </a:endParaRPr>
          </a:p>
          <a:p>
            <a:pPr algn="l">
              <a:defRPr/>
            </a:pPr>
            <a:endParaRPr>
              <a:solidFill>
                <a:srgbClr val="020617"/>
              </a:solidFill>
              <a:latin typeface="Comfortaa Light"/>
              <a:ea typeface="Comfortaa Light"/>
              <a:cs typeface="Comfortaa Light"/>
            </a:endParaRPr>
          </a:p>
          <a:p>
            <a:pPr marL="683929" lvl="1" indent="-283879" algn="l">
              <a:buAutoNum type="arabicPeriod"/>
              <a:defRPr/>
            </a:pPr>
            <a:r>
              <a:rPr b="1">
                <a:solidFill>
                  <a:srgbClr val="020617"/>
                </a:solidFill>
                <a:latin typeface="Comfortaa Light"/>
                <a:ea typeface="Comfortaa Light"/>
                <a:cs typeface="Comfortaa Light"/>
              </a:rPr>
              <a:t>Incertezza Normativa: </a:t>
            </a:r>
            <a:r>
              <a:rPr b="0">
                <a:solidFill>
                  <a:srgbClr val="020617"/>
                </a:solidFill>
                <a:latin typeface="Comfortaa Light"/>
                <a:ea typeface="Comfortaa Light"/>
                <a:cs typeface="Comfortaa Light"/>
              </a:rPr>
              <a:t>Conflitto tra massimizzazione del carico e limiti di sicurezza.</a:t>
            </a:r>
            <a:endParaRPr b="0">
              <a:solidFill>
                <a:srgbClr val="020617"/>
              </a:solidFill>
              <a:latin typeface="Comfortaa Light"/>
              <a:ea typeface="Comfortaa Light"/>
              <a:cs typeface="Comfortaa Light"/>
            </a:endParaRPr>
          </a:p>
          <a:p>
            <a:pPr marL="683929" lvl="1" indent="-283879" algn="l">
              <a:buAutoNum type="arabicPeriod"/>
              <a:defRPr/>
            </a:pPr>
            <a:r>
              <a:rPr b="1">
                <a:solidFill>
                  <a:srgbClr val="020617"/>
                </a:solidFill>
                <a:latin typeface="Comfortaa Light"/>
                <a:ea typeface="Comfortaa Light"/>
                <a:cs typeface="Comfortaa Light"/>
              </a:rPr>
              <a:t>Incompatibilità Chimica: </a:t>
            </a:r>
            <a:r>
              <a:rPr b="0">
                <a:solidFill>
                  <a:srgbClr val="020617"/>
                </a:solidFill>
                <a:latin typeface="Comfortaa Light"/>
                <a:ea typeface="Comfortaa Light"/>
                <a:cs typeface="Comfortaa Light"/>
              </a:rPr>
              <a:t>Sostanze che non possono viaggiare insieme (Esplosivi vs Infiammabili).</a:t>
            </a:r>
            <a:endParaRPr b="0">
              <a:solidFill>
                <a:srgbClr val="020617"/>
              </a:solidFill>
              <a:latin typeface="Comfortaa Light"/>
              <a:ea typeface="Comfortaa Light"/>
              <a:cs typeface="Comfortaa Light"/>
            </a:endParaRPr>
          </a:p>
          <a:p>
            <a:pPr lvl="0" algn="l">
              <a:defRPr/>
            </a:pPr>
            <a:endParaRPr b="0">
              <a:solidFill>
                <a:srgbClr val="020617"/>
              </a:solidFill>
              <a:latin typeface="Comfortaa Light"/>
              <a:ea typeface="Comfortaa Light"/>
              <a:cs typeface="Comfortaa Light"/>
            </a:endParaRPr>
          </a:p>
          <a:p>
            <a:pPr lvl="0" algn="l">
              <a:defRPr/>
            </a:pPr>
            <a:r>
              <a:rPr b="1">
                <a:solidFill>
                  <a:srgbClr val="020617"/>
                </a:solidFill>
                <a:latin typeface="Comfortaa Light"/>
                <a:ea typeface="Comfortaa Light"/>
                <a:cs typeface="Comfortaa Light"/>
              </a:rPr>
              <a:t>Proposta di Valore: </a:t>
            </a:r>
            <a:r>
              <a:rPr b="0">
                <a:solidFill>
                  <a:srgbClr val="020617"/>
                </a:solidFill>
                <a:latin typeface="Comfortaa Light"/>
                <a:ea typeface="Comfortaa Light"/>
                <a:cs typeface="Comfortaa Light"/>
              </a:rPr>
              <a:t>AdrSentinel annulla l’errore umano, trasformando la legge in codice binario inviolabile.</a:t>
            </a:r>
            <a:endParaRPr b="0">
              <a:solidFill>
                <a:srgbClr val="020617"/>
              </a:solidFill>
              <a:latin typeface="Comfortaa Light"/>
              <a:ea typeface="Comfortaa Light"/>
              <a:cs typeface="Comfortaa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689283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0" y="-25512"/>
            <a:ext cx="12191998" cy="6909025"/>
          </a:xfrm>
          <a:prstGeom prst="rect">
            <a:avLst/>
          </a:prstGeom>
        </p:spPr>
      </p:pic>
      <p:sp>
        <p:nvSpPr>
          <p:cNvPr id="1377682072" name=""/>
          <p:cNvSpPr/>
          <p:nvPr/>
        </p:nvSpPr>
        <p:spPr bwMode="auto">
          <a:xfrm rot="0" flipH="0" flipV="0">
            <a:off x="644398" y="525866"/>
            <a:ext cx="90000" cy="579600"/>
          </a:xfrm>
          <a:prstGeom prst="rect">
            <a:avLst/>
          </a:prstGeom>
          <a:solidFill>
            <a:srgbClr val="FF8626"/>
          </a:solidFill>
          <a:ln w="12700" cap="flat" cmpd="sng" algn="ctr">
            <a:solidFill>
              <a:srgbClr val="FF8626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45743140" name=""/>
          <p:cNvSpPr txBox="1"/>
          <p:nvPr/>
        </p:nvSpPr>
        <p:spPr bwMode="auto">
          <a:xfrm rot="0" flipH="0" flipV="0">
            <a:off x="734398" y="534685"/>
            <a:ext cx="5945001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spAutoFit/>
          </a:bodyPr>
          <a:p>
            <a:pPr algn="l">
              <a:defRPr/>
            </a:pPr>
            <a:r>
              <a:rPr sz="3200" b="1">
                <a:solidFill>
                  <a:srgbClr val="020617"/>
                </a:solidFill>
                <a:latin typeface="Comfortaa SemiBold"/>
                <a:ea typeface="Comfortaa SemiBold"/>
                <a:cs typeface="Comfortaa SemiBold"/>
              </a:rPr>
              <a:t>Tecnologia e Profitto</a:t>
            </a:r>
            <a:endParaRPr sz="3400" b="1">
              <a:solidFill>
                <a:srgbClr val="FF8626"/>
              </a:solidFill>
            </a:endParaRPr>
          </a:p>
        </p:txBody>
      </p:sp>
      <p:sp>
        <p:nvSpPr>
          <p:cNvPr id="618841260" name=""/>
          <p:cNvSpPr>
            <a:spLocks noChangeAspect="1"/>
          </p:cNvSpPr>
          <p:nvPr/>
        </p:nvSpPr>
        <p:spPr bwMode="auto">
          <a:xfrm rot="0" flipH="0" flipV="0">
            <a:off x="597599" y="1476000"/>
            <a:ext cx="3600000" cy="4647600"/>
          </a:xfrm>
          <a:prstGeom prst="roundRect">
            <a:avLst>
              <a:gd name="adj" fmla="val 2955"/>
            </a:avLst>
          </a:prstGeom>
          <a:solidFill>
            <a:srgbClr val="FFFFFF"/>
          </a:solidFill>
          <a:ln w="12700" cap="flat" cmpd="sng" algn="ctr">
            <a:solidFill>
              <a:schemeClr val="bg1">
                <a:lumMod val="85098"/>
              </a:schemeClr>
            </a:solidFill>
            <a:prstDash val="solid"/>
            <a:miter lim="800000"/>
          </a:ln>
          <a:effectLst>
            <a:outerShdw blurRad="50800" dist="38100" dir="2700000" sx="100000" sy="1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9379897" name=""/>
          <p:cNvSpPr>
            <a:spLocks noChangeAspect="1"/>
          </p:cNvSpPr>
          <p:nvPr/>
        </p:nvSpPr>
        <p:spPr bwMode="auto">
          <a:xfrm rot="0" flipH="0" flipV="0">
            <a:off x="4370400" y="1476000"/>
            <a:ext cx="3600000" cy="4647600"/>
          </a:xfrm>
          <a:prstGeom prst="roundRect">
            <a:avLst>
              <a:gd name="adj" fmla="val 2955"/>
            </a:avLst>
          </a:prstGeom>
          <a:solidFill>
            <a:srgbClr val="FFFFFF"/>
          </a:solidFill>
          <a:ln w="12700" cap="flat" cmpd="sng" algn="ctr">
            <a:solidFill>
              <a:schemeClr val="bg1">
                <a:lumMod val="85098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0309081" name=""/>
          <p:cNvSpPr>
            <a:spLocks noChangeAspect="1"/>
          </p:cNvSpPr>
          <p:nvPr/>
        </p:nvSpPr>
        <p:spPr bwMode="auto">
          <a:xfrm rot="0" flipH="0" flipV="0">
            <a:off x="8161200" y="1475614"/>
            <a:ext cx="3600000" cy="4647600"/>
          </a:xfrm>
          <a:prstGeom prst="roundRect">
            <a:avLst>
              <a:gd name="adj" fmla="val 2955"/>
            </a:avLst>
          </a:prstGeom>
          <a:solidFill>
            <a:srgbClr val="FFFFFF"/>
          </a:solidFill>
          <a:ln w="12700" cap="flat" cmpd="sng" algn="ctr">
            <a:solidFill>
              <a:schemeClr val="bg1">
                <a:lumMod val="85098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681559829" name="Immagine 141269655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rot="0" flipH="0" flipV="0">
            <a:off x="856799" y="1864800"/>
            <a:ext cx="432000" cy="432000"/>
          </a:xfrm>
          <a:prstGeom prst="rect">
            <a:avLst/>
          </a:prstGeom>
        </p:spPr>
      </p:pic>
      <p:sp>
        <p:nvSpPr>
          <p:cNvPr id="595845761" name=""/>
          <p:cNvSpPr txBox="1"/>
          <p:nvPr/>
        </p:nvSpPr>
        <p:spPr bwMode="auto">
          <a:xfrm rot="0" flipH="0" flipV="0">
            <a:off x="734398" y="2677132"/>
            <a:ext cx="3234591" cy="2621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spAutoFit/>
          </a:bodyPr>
          <a:p>
            <a:pPr>
              <a:defRPr/>
            </a:pPr>
            <a:r>
              <a:rPr sz="2200" b="1">
                <a:latin typeface="Comfortaa Light"/>
                <a:ea typeface="Comfortaa Light"/>
                <a:cs typeface="Comfortaa Light"/>
              </a:rPr>
              <a:t>Core Tecnologico</a:t>
            </a:r>
            <a:endParaRPr b="1">
              <a:latin typeface="Comfortaa Light"/>
              <a:ea typeface="Comfortaa Light"/>
              <a:cs typeface="Comfortaa Light"/>
            </a:endParaRPr>
          </a:p>
          <a:p>
            <a:pPr>
              <a:defRPr/>
            </a:pPr>
            <a:endParaRPr b="0">
              <a:latin typeface="Comfortaa Light"/>
              <a:cs typeface="Comfortaa Light"/>
            </a:endParaRPr>
          </a:p>
          <a:p>
            <a:pPr>
              <a:defRPr/>
            </a:pPr>
            <a:endParaRPr b="0">
              <a:latin typeface="Comfortaa Light"/>
              <a:ea typeface="Comfortaa Light"/>
              <a:cs typeface="Comfortaa Light"/>
            </a:endParaRPr>
          </a:p>
          <a:p>
            <a:pPr>
              <a:defRPr/>
            </a:pPr>
            <a:r>
              <a:rPr b="0">
                <a:latin typeface="Comfortaa Light"/>
                <a:ea typeface="Comfortaa Light"/>
                <a:cs typeface="Comfortaa Light"/>
              </a:rPr>
              <a:t>Architettura Client-Server robusta: </a:t>
            </a:r>
            <a:r>
              <a:rPr b="1">
                <a:latin typeface="Comfortaa Light"/>
                <a:ea typeface="Comfortaa Light"/>
                <a:cs typeface="Comfortaa Light"/>
              </a:rPr>
              <a:t>Backend Java</a:t>
            </a:r>
            <a:r>
              <a:rPr b="0">
                <a:latin typeface="Comfortaa Light"/>
                <a:ea typeface="Comfortaa Light"/>
                <a:cs typeface="Comfortaa Light"/>
              </a:rPr>
              <a:t> (SpringBoot) per calcoli complessi e </a:t>
            </a:r>
            <a:r>
              <a:rPr b="1">
                <a:latin typeface="Comfortaa Light"/>
                <a:ea typeface="Comfortaa Light"/>
                <a:cs typeface="Comfortaa Light"/>
              </a:rPr>
              <a:t>Frontend React</a:t>
            </a:r>
            <a:r>
              <a:rPr b="0">
                <a:latin typeface="Comfortaa Light"/>
                <a:ea typeface="Comfortaa Light"/>
                <a:cs typeface="Comfortaa Light"/>
              </a:rPr>
              <a:t> per un’interfaccia utente intuitiva.</a:t>
            </a:r>
            <a:endParaRPr b="0">
              <a:latin typeface="Comfortaa Light"/>
              <a:ea typeface="Comfortaa Light"/>
              <a:cs typeface="Comfortaa Light"/>
            </a:endParaRPr>
          </a:p>
        </p:txBody>
      </p:sp>
      <p:pic>
        <p:nvPicPr>
          <p:cNvPr id="1583341985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rot="0" flipH="0" flipV="0">
            <a:off x="4737600" y="1864800"/>
            <a:ext cx="432000" cy="432000"/>
          </a:xfrm>
          <a:prstGeom prst="rect">
            <a:avLst/>
          </a:prstGeom>
        </p:spPr>
      </p:pic>
      <p:sp>
        <p:nvSpPr>
          <p:cNvPr id="531346206" name=""/>
          <p:cNvSpPr txBox="1"/>
          <p:nvPr/>
        </p:nvSpPr>
        <p:spPr bwMode="auto">
          <a:xfrm rot="0" flipH="0" flipV="0">
            <a:off x="4554000" y="2678579"/>
            <a:ext cx="3237120" cy="2682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spAutoFit/>
          </a:bodyPr>
          <a:p>
            <a:pPr>
              <a:defRPr/>
            </a:pPr>
            <a:r>
              <a:rPr sz="2200" b="1">
                <a:latin typeface="Comfortaa Light"/>
                <a:ea typeface="Comfortaa Light"/>
                <a:cs typeface="Comfortaa Light"/>
              </a:rPr>
              <a:t>Ottimizzazione del Carico</a:t>
            </a:r>
            <a:endParaRPr b="1">
              <a:latin typeface="Comfortaa Light"/>
              <a:ea typeface="Comfortaa Light"/>
              <a:cs typeface="Comfortaa Light"/>
            </a:endParaRPr>
          </a:p>
          <a:p>
            <a:pPr>
              <a:defRPr/>
            </a:pPr>
            <a:endParaRPr b="0">
              <a:latin typeface="Comfortaa Light"/>
              <a:cs typeface="Comfortaa Light"/>
            </a:endParaRPr>
          </a:p>
          <a:p>
            <a:pPr>
              <a:defRPr/>
            </a:pPr>
            <a:endParaRPr b="0">
              <a:latin typeface="Comfortaa Light"/>
              <a:ea typeface="Comfortaa Light"/>
              <a:cs typeface="Comfortaa Light"/>
            </a:endParaRPr>
          </a:p>
          <a:p>
            <a:pPr>
              <a:defRPr/>
            </a:pPr>
            <a:r>
              <a:rPr b="0">
                <a:latin typeface="Comfortaa Light"/>
                <a:ea typeface="Comfortaa Light"/>
                <a:cs typeface="Comfortaa Light"/>
              </a:rPr>
              <a:t>Algoritmi avanzati per la “Regola dei 1000 Punti”. Verifica automatica della compatibilità tra classi ADR prima del carico.</a:t>
            </a:r>
            <a:endParaRPr b="0">
              <a:latin typeface="Comfortaa Light"/>
              <a:ea typeface="Comfortaa Light"/>
              <a:cs typeface="Comfortaa Light"/>
            </a:endParaRPr>
          </a:p>
        </p:txBody>
      </p:sp>
      <p:pic>
        <p:nvPicPr>
          <p:cNvPr id="86054223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rot="0" flipH="0" flipV="0">
            <a:off x="8528400" y="1864800"/>
            <a:ext cx="432000" cy="432000"/>
          </a:xfrm>
          <a:prstGeom prst="rect">
            <a:avLst/>
          </a:prstGeom>
        </p:spPr>
      </p:pic>
      <p:sp>
        <p:nvSpPr>
          <p:cNvPr id="67944562" name=""/>
          <p:cNvSpPr txBox="1"/>
          <p:nvPr/>
        </p:nvSpPr>
        <p:spPr bwMode="auto">
          <a:xfrm rot="0" flipH="0" flipV="0">
            <a:off x="8344800" y="2678400"/>
            <a:ext cx="3236760" cy="2621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spAutoFit/>
          </a:bodyPr>
          <a:p>
            <a:pPr>
              <a:defRPr/>
            </a:pPr>
            <a:r>
              <a:rPr sz="2200" b="1">
                <a:latin typeface="Comfortaa Light"/>
                <a:ea typeface="Comfortaa Light"/>
                <a:cs typeface="Comfortaa Light"/>
              </a:rPr>
              <a:t>Modello di Business</a:t>
            </a:r>
            <a:endParaRPr b="1">
              <a:latin typeface="Comfortaa Light"/>
              <a:ea typeface="Comfortaa Light"/>
              <a:cs typeface="Comfortaa Light"/>
            </a:endParaRPr>
          </a:p>
          <a:p>
            <a:pPr>
              <a:defRPr/>
            </a:pPr>
            <a:endParaRPr b="0">
              <a:latin typeface="Comfortaa Light"/>
              <a:cs typeface="Comfortaa Light"/>
            </a:endParaRPr>
          </a:p>
          <a:p>
            <a:pPr>
              <a:defRPr/>
            </a:pPr>
            <a:endParaRPr b="0">
              <a:latin typeface="Comfortaa Light"/>
              <a:ea typeface="Comfortaa Light"/>
              <a:cs typeface="Comfortaa Light"/>
            </a:endParaRPr>
          </a:p>
          <a:p>
            <a:pPr>
              <a:defRPr/>
            </a:pPr>
            <a:r>
              <a:rPr b="0">
                <a:latin typeface="Comfortaa Light"/>
                <a:ea typeface="Comfortaa Light"/>
                <a:cs typeface="Comfortaa Light"/>
              </a:rPr>
              <a:t>Modello SaaS in abbonamento (mensile, trimestrale, semestrale o annuale) con scontistica progressiva sui piani a lungo termine.</a:t>
            </a:r>
            <a:endParaRPr b="0">
              <a:latin typeface="Comfortaa Light"/>
              <a:ea typeface="Comfortaa Light"/>
              <a:cs typeface="Comfortaa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115943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0" y="-25512"/>
            <a:ext cx="12191998" cy="6909025"/>
          </a:xfrm>
          <a:prstGeom prst="rect">
            <a:avLst/>
          </a:prstGeom>
        </p:spPr>
      </p:pic>
      <p:sp>
        <p:nvSpPr>
          <p:cNvPr id="90417197" name=""/>
          <p:cNvSpPr/>
          <p:nvPr/>
        </p:nvSpPr>
        <p:spPr bwMode="auto">
          <a:xfrm rot="0" flipH="0" flipV="0">
            <a:off x="6276985" y="5704532"/>
            <a:ext cx="5613585" cy="799419"/>
          </a:xfrm>
          <a:prstGeom prst="roundRect">
            <a:avLst>
              <a:gd name="adj" fmla="val 8510"/>
            </a:avLst>
          </a:prstGeom>
          <a:solidFill>
            <a:srgbClr val="FFFFFF"/>
          </a:solidFill>
          <a:ln w="12700" cap="flat" cmpd="sng" algn="ctr">
            <a:solidFill>
              <a:schemeClr val="bg1">
                <a:lumMod val="85098"/>
              </a:schemeClr>
            </a:solidFill>
            <a:prstDash val="solid"/>
            <a:miter lim="800000"/>
          </a:ln>
          <a:effectLst>
            <a:outerShdw blurRad="50800" dist="38100" dir="2700000" sx="100000" sy="1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1730523" name=""/>
          <p:cNvSpPr/>
          <p:nvPr/>
        </p:nvSpPr>
        <p:spPr bwMode="auto">
          <a:xfrm rot="0" flipH="0" flipV="0">
            <a:off x="644398" y="525866"/>
            <a:ext cx="90000" cy="579600"/>
          </a:xfrm>
          <a:prstGeom prst="rect">
            <a:avLst/>
          </a:prstGeom>
          <a:solidFill>
            <a:srgbClr val="FF8626"/>
          </a:solidFill>
          <a:ln w="12700" cap="flat" cmpd="sng" algn="ctr">
            <a:solidFill>
              <a:srgbClr val="FF8626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77923569" name=""/>
          <p:cNvSpPr txBox="1"/>
          <p:nvPr/>
        </p:nvSpPr>
        <p:spPr bwMode="auto">
          <a:xfrm rot="0" flipH="0" flipV="0">
            <a:off x="734398" y="542785"/>
            <a:ext cx="5961200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spAutoFit/>
          </a:bodyPr>
          <a:p>
            <a:pPr algn="l">
              <a:defRPr/>
            </a:pPr>
            <a:r>
              <a:rPr sz="3200" b="1">
                <a:solidFill>
                  <a:srgbClr val="020617"/>
                </a:solidFill>
                <a:latin typeface="Comfortaa SemiBold"/>
                <a:ea typeface="Comfortaa SemiBold"/>
                <a:cs typeface="Comfortaa SemiBold"/>
              </a:rPr>
              <a:t>Mercato e Visione Futura </a:t>
            </a:r>
            <a:endParaRPr sz="3400" b="1">
              <a:solidFill>
                <a:srgbClr val="FF8626"/>
              </a:solidFill>
            </a:endParaRPr>
          </a:p>
        </p:txBody>
      </p:sp>
      <p:pic>
        <p:nvPicPr>
          <p:cNvPr id="101211778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44285" y="1632857"/>
            <a:ext cx="5242499" cy="3980089"/>
          </a:xfrm>
          <a:prstGeom prst="roundRect">
            <a:avLst>
              <a:gd name="adj" fmla="val 4367"/>
            </a:avLst>
          </a:prstGeom>
        </p:spPr>
      </p:pic>
      <p:sp>
        <p:nvSpPr>
          <p:cNvPr id="1049317069" name=""/>
          <p:cNvSpPr txBox="1"/>
          <p:nvPr/>
        </p:nvSpPr>
        <p:spPr bwMode="auto">
          <a:xfrm rot="0" flipH="0" flipV="0">
            <a:off x="6216145" y="1234260"/>
            <a:ext cx="5718344" cy="43894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 b="1">
                <a:solidFill>
                  <a:srgbClr val="FE4508"/>
                </a:solidFill>
                <a:latin typeface="Comfortaa Light"/>
                <a:ea typeface="Comfortaa Light"/>
                <a:cs typeface="Comfortaa Light"/>
              </a:rPr>
              <a:t>Perchè AdrSentinel?</a:t>
            </a:r>
            <a:endParaRPr sz="2000" b="1">
              <a:solidFill>
                <a:srgbClr val="FE4508"/>
              </a:solidFill>
              <a:latin typeface="Comfortaa Light"/>
              <a:cs typeface="Comfortaa Light"/>
            </a:endParaRPr>
          </a:p>
          <a:p>
            <a:pPr>
              <a:defRPr/>
            </a:pPr>
            <a:endParaRPr sz="2200" b="1">
              <a:solidFill>
                <a:srgbClr val="FE4508"/>
              </a:solidFill>
              <a:latin typeface="Comfortaa Light"/>
              <a:cs typeface="Comfortaa Light"/>
            </a:endParaRPr>
          </a:p>
          <a:p>
            <a:pPr>
              <a:defRPr/>
            </a:pPr>
            <a:r>
              <a:rPr sz="1600" b="1">
                <a:solidFill>
                  <a:srgbClr val="020617"/>
                </a:solidFill>
                <a:latin typeface="Comfortaa Light"/>
                <a:cs typeface="Comfortaa Light"/>
              </a:rPr>
              <a:t>Target: </a:t>
            </a:r>
            <a:r>
              <a:rPr sz="1600" b="0">
                <a:solidFill>
                  <a:srgbClr val="020617"/>
                </a:solidFill>
                <a:latin typeface="Comfortaa Light"/>
                <a:cs typeface="Comfortaa Light"/>
              </a:rPr>
              <a:t>Aziende di autotrasporto, hub chimici e consulenti ADR che necessitano di tracciabilità immutabile.</a:t>
            </a:r>
            <a:endParaRPr sz="1600" b="0">
              <a:solidFill>
                <a:srgbClr val="020617"/>
              </a:solidFill>
              <a:latin typeface="Comfortaa Light"/>
              <a:cs typeface="Comfortaa Light"/>
            </a:endParaRPr>
          </a:p>
          <a:p>
            <a:pPr>
              <a:defRPr/>
            </a:pPr>
            <a:endParaRPr sz="1600" b="0">
              <a:solidFill>
                <a:srgbClr val="020617"/>
              </a:solidFill>
              <a:latin typeface="Comfortaa Light"/>
              <a:cs typeface="Comfortaa Light"/>
            </a:endParaRPr>
          </a:p>
          <a:p>
            <a:pPr>
              <a:defRPr/>
            </a:pPr>
            <a:r>
              <a:rPr sz="1600" b="1">
                <a:solidFill>
                  <a:srgbClr val="020617"/>
                </a:solidFill>
                <a:latin typeface="Comfortaa Light"/>
                <a:cs typeface="Comfortaa Light"/>
              </a:rPr>
              <a:t>Unicità: </a:t>
            </a:r>
            <a:r>
              <a:rPr sz="1600" b="0">
                <a:solidFill>
                  <a:srgbClr val="020617"/>
                </a:solidFill>
                <a:latin typeface="Comfortaa Light"/>
                <a:cs typeface="Comfortaa Light"/>
              </a:rPr>
              <a:t>La legge è “scolpita” nel database (</a:t>
            </a:r>
            <a:r>
              <a:rPr sz="1600" b="1">
                <a:solidFill>
                  <a:srgbClr val="020617"/>
                </a:solidFill>
                <a:latin typeface="Comfortaa Light"/>
                <a:cs typeface="Comfortaa Light"/>
              </a:rPr>
              <a:t>DDD</a:t>
            </a:r>
            <a:r>
              <a:rPr sz="1600" b="0">
                <a:solidFill>
                  <a:srgbClr val="020617"/>
                </a:solidFill>
                <a:latin typeface="Comfortaa Light"/>
                <a:cs typeface="Comfortaa Light"/>
              </a:rPr>
              <a:t>). Ogni inserimento illegale viene bloccato alla radice (Fail Fast Validation).</a:t>
            </a:r>
            <a:endParaRPr sz="1600" b="0">
              <a:solidFill>
                <a:srgbClr val="020617"/>
              </a:solidFill>
              <a:latin typeface="Comfortaa Light"/>
              <a:cs typeface="Comfortaa Light"/>
            </a:endParaRPr>
          </a:p>
          <a:p>
            <a:pPr>
              <a:defRPr/>
            </a:pPr>
            <a:endParaRPr sz="1600" b="0">
              <a:solidFill>
                <a:srgbClr val="020617"/>
              </a:solidFill>
              <a:latin typeface="Comfortaa Light"/>
              <a:cs typeface="Comfortaa Light"/>
            </a:endParaRPr>
          </a:p>
          <a:p>
            <a:pPr>
              <a:defRPr/>
            </a:pPr>
            <a:r>
              <a:rPr sz="1600" b="1">
                <a:solidFill>
                  <a:srgbClr val="020617"/>
                </a:solidFill>
                <a:latin typeface="Comfortaa Light"/>
                <a:cs typeface="Comfortaa Light"/>
              </a:rPr>
              <a:t>Visione GIS: </a:t>
            </a:r>
            <a:r>
              <a:rPr sz="1600" b="0">
                <a:solidFill>
                  <a:srgbClr val="020617"/>
                </a:solidFill>
                <a:latin typeface="Comfortaa Light"/>
                <a:cs typeface="Comfortaa Light"/>
              </a:rPr>
              <a:t>Roadmap focalizzata sul routing dinamico per evitare tunnel e zone sensibili in tempo reale.</a:t>
            </a:r>
            <a:endParaRPr sz="1600" b="0">
              <a:solidFill>
                <a:srgbClr val="020617"/>
              </a:solidFill>
              <a:latin typeface="Comfortaa Light"/>
              <a:cs typeface="Comfortaa Light"/>
            </a:endParaRPr>
          </a:p>
          <a:p>
            <a:pPr>
              <a:defRPr/>
            </a:pPr>
            <a:endParaRPr sz="1600" b="0">
              <a:solidFill>
                <a:srgbClr val="020617"/>
              </a:solidFill>
              <a:latin typeface="Comfortaa Light"/>
              <a:cs typeface="Comfortaa Light"/>
            </a:endParaRPr>
          </a:p>
          <a:p>
            <a:pPr>
              <a:defRPr/>
            </a:pPr>
            <a:r>
              <a:rPr sz="1600" b="1">
                <a:solidFill>
                  <a:schemeClr val="tx1"/>
                </a:solidFill>
                <a:latin typeface="Comfortaa Light"/>
                <a:cs typeface="Comfortaa Light"/>
              </a:rPr>
              <a:t>Bolla di Accompagnamento:</a:t>
            </a:r>
            <a:r>
              <a:rPr sz="1600" b="0">
                <a:solidFill>
                  <a:schemeClr val="tx1"/>
                </a:solidFill>
                <a:latin typeface="Comfortaa Light"/>
                <a:cs typeface="Comfortaa Light"/>
              </a:rPr>
              <a:t> In pochi istanti si può generare il documento di viaggio completo di tutte le informazioni legali della spedizione.</a:t>
            </a:r>
            <a:endParaRPr sz="1600" b="0">
              <a:solidFill>
                <a:schemeClr val="tx1"/>
              </a:solidFill>
              <a:latin typeface="Comfortaa Light"/>
              <a:cs typeface="Comfortaa Light"/>
            </a:endParaRPr>
          </a:p>
        </p:txBody>
      </p:sp>
      <p:sp>
        <p:nvSpPr>
          <p:cNvPr id="1959576225" name=""/>
          <p:cNvSpPr txBox="1"/>
          <p:nvPr/>
        </p:nvSpPr>
        <p:spPr bwMode="auto">
          <a:xfrm rot="0" flipH="0" flipV="0">
            <a:off x="6276985" y="5696541"/>
            <a:ext cx="5614304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spAutoFit/>
          </a:bodyPr>
          <a:p>
            <a:pPr algn="l">
              <a:defRPr/>
            </a:pPr>
            <a:r>
              <a:rPr sz="1600" b="1">
                <a:latin typeface="Comfortaa Light"/>
                <a:ea typeface="Comfortaa Light"/>
                <a:cs typeface="Comfortaa Light"/>
              </a:rPr>
              <a:t>Audit-Ready: </a:t>
            </a:r>
            <a:r>
              <a:rPr sz="1600" b="0">
                <a:latin typeface="Comfortaa Light"/>
                <a:ea typeface="Comfortaa Light"/>
                <a:cs typeface="Comfortaa Light"/>
              </a:rPr>
              <a:t>Report di conformità generati in pochi istanti, pronti</a:t>
            </a:r>
            <a:r>
              <a:rPr sz="1600" b="0">
                <a:latin typeface="Comfortaa Light"/>
                <a:cs typeface="Comfortaa Light"/>
              </a:rPr>
              <a:t> per ispezioni ministeriali o certificazioni ISO.</a:t>
            </a:r>
            <a:endParaRPr sz="1600" b="0">
              <a:latin typeface="Comfortaa Light"/>
              <a:cs typeface="Comfortaa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4</Slides>
  <Notes>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Theme 1</vt:lpstr>
      <vt:lpstr>Slide 1</vt:lpstr>
      <vt:lpstr>Slide 2</vt:lpstr>
      <vt:lpstr>Slide 3</vt:lpstr>
      <vt:lpstr>Slide 4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</cp:revision>
  <dcterms:created xsi:type="dcterms:W3CDTF">2012-12-03T06:56:55Z</dcterms:created>
  <dcterms:modified xsi:type="dcterms:W3CDTF">2026-06-07T17:31:04Z</dcterms:modified>
</cp:coreProperties>
</file>